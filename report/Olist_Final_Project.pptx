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巴西电商 Olist 运营管理系统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CCCCC"/>
                </a:solidFill>
              </a:defRPr>
            </a:pPr>
            <a:r>
              <a:t>数据库期末项目 | MySQL 8.x | 数据分析与可视化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01 项目概述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项目背景与实际意义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基于巴西电商平台 Olist 的真实公开数据集（~10万订单）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构建完整的电商运营管理系统，涵盖用户/商品/订单/支付/评价全链路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演示 MySQL 核心技术与电商业务数据分析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覆盖 DDL/DML/约束/视图/存储过程/触发器/事务/索引/函数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附加库存管理模块，模拟真实电商库存扣减与预警场景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生成 11 张专业可视化图表，支撑业务洞察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数据来源与规模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数据集：Kaggle - Brazilian E-Commerce Public Dataset by Olist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数据规模：9 张 CSV，约 130MB，96,096 条有效订单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时间跨度：2016-09 至 2018-08，覆盖近 2 年业务数据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客户：96,096 人（覆盖巴西 27 个州）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商品：32,951 种，涵盖 71 个品类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卖家：3,095 家，地理坐标：1,000,163 条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自造辅助表：inventory（库存）、inventory_alert（预警）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02 数据库设计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ER 图与表结构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共 11 张数据表：9 张真实数据 + 2 张自造辅助表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核心关系：customers → orders → order_items → products/sellers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支付与评价均与 orders 一对多关联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inventory 与 products 一对一，实现库存追踪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所有表均设置 PRIMARY KEY，外键约束保证参照完整性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【请在此处插入 MySQL Workbench 导出的 ER 图】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完整性约束设计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实体完整性：所有表 PRIMARY KEY + customers.unique_id UNIQUE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参照完整性：6 组外键关联，删除策略 CASCADE / SET NULL / RESTRICT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CHECK 约束：review_score 1-5、price≥0、freight≥0、stock≥0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ENUM 约束：order_status 限定 8 种状态（delivered/shipped/canceled...）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NOT NULL 约束：业务必填字段均强制非空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DEFAULT 约束：inventory.last_updated 自动维护时间戳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03 基础操作演示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建库建表与数据导入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CREATE DATABASE olist_db CHARACTER SET utf8mb4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11 张表使用 InnoDB 引擎，支持事务与行级锁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数据导入：LOAD DATA LOCAL INFILE 批量加载 9 个 CSV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导入结果验证：customers 96,096 / orders 96,096 / order_items 108,578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inventory 表生成：基于 products 随机生成库存（50-500），5% 设为低库存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导入耗时：普通笔记本约 1-2 分钟完成全部加载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增删改查与多表查询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基础查询：SELECT / INSERT / UPDATE / DELETE 完整覆盖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多表 JOIN：订单宽表 v_order_full 涉及 4 表 JOIN + GROUP BY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子查询：RFM 计算中的窗口函数 NTILE 分位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聚合分析：SUM / COUNT / AVG / ROUND 配合 GROUP BY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时间函数：DATE_FORMAT、YEAR、HOUR、DATEDIFF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条件逻辑：CASE WHEN 实现 RFM 客户分群标签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04 MySQL 进阶技术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视图（Views）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v_order_full：订单宽表，聚合客户/明细/评价信息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v_category_sales：品类销售统计，展示收入/销量/均价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v_customer_rfm：RFM 客户价值分层，使用 NTILE 五分位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v_monthly_revenue：月度收入趋势，方便时间序列分析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v_product_recommendation：协同过滤推荐，基于共现统计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函数、存储过程与事务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自定义函数：fn_shipping_days() 计算物流天数；fn_order_total() 计算订单总价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sp_place_order()：模拟下单事务，START TRANSACTION → INSERT → COMMIT/ROLLBACK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sp_state_monthly_revenue(state, year)：州级月度收入统计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sp_low_stock_report()：返回库存不足商品列表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sp_restock_product(product_id, qty)：商品补货操作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事务处理：库存扣减失败自动 ROLLBACK，保证数据一致性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触发器（Triggers）与索引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trg_order_item_deduct_stock：下单前检查并自动扣减库存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trg_inventory_low_stock_alert：库存降至安全线时自动插入预警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trg_review_negative_alert：评分≤2 时自动记录负面评价预警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索引设计：共 11 个索引，含 3 个复合索引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idx_order_status_time：(status, timestamp) 复合索引加速时间范围查询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idx_oi_product_seller：(product_id, seller_id) 支持品类-卖家分析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05 数据分析与可视化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月度销售趋势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2017-11 达到峰值 7,060 单 / 112 万 BRL，随后稳定月均 6,000 单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【图表文件：01_monthly_revenue_trend.png】</a:t>
            </a:r>
          </a:p>
        </p:txBody>
      </p:sp>
      <p:pic>
        <p:nvPicPr>
          <p:cNvPr id="5" name="Picture 4" descr="01_monthly_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71600"/>
            <a:ext cx="4297680" cy="213319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各州收入地理分布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SP 州 559 万 BRL 遥遥领先，占总收入 35%；RJ、MG 分居二三位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【图表文件：02_top_states_revenue.png】</a:t>
            </a:r>
          </a:p>
        </p:txBody>
      </p:sp>
      <p:pic>
        <p:nvPicPr>
          <p:cNvPr id="5" name="Picture 4" descr="02_top_states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71600"/>
            <a:ext cx="4297680" cy="257511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TOP 10 品类销售额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health_beauty 123 万居首，watches_gifts 117 万次之，客单价差异显著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【图表文件：03_top_categories.png】</a:t>
            </a:r>
          </a:p>
        </p:txBody>
      </p:sp>
      <p:pic>
        <p:nvPicPr>
          <p:cNvPr id="5" name="Picture 4" descr="03_top_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71600"/>
            <a:ext cx="4297680" cy="233032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支付方式偏好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信用卡占 75.2% 订单 / 78.3% 金额，平均分期 3.5 期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【图表文件：04_payment_distribution.png】</a:t>
            </a:r>
          </a:p>
        </p:txBody>
      </p:sp>
      <p:pic>
        <p:nvPicPr>
          <p:cNvPr id="5" name="Picture 4" descr="04_payme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71600"/>
            <a:ext cx="4297680" cy="203271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配送时效分析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SP 州 8.7 天最优，偏远州 20-30 天，存在显著物流差距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【图表文件：05_delivery_days_by_state.png】</a:t>
            </a:r>
          </a:p>
        </p:txBody>
      </p:sp>
      <p:pic>
        <p:nvPicPr>
          <p:cNvPr id="5" name="Picture 4" descr="05_delivery_days_by_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71600"/>
            <a:ext cx="4297680" cy="342946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评价分数分布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5 星 57.7%，好评率 77.1%，但 1 星 11.5% 需关注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【图表文件：06_review_distribution.png】</a:t>
            </a:r>
          </a:p>
        </p:txBody>
      </p:sp>
      <p:pic>
        <p:nvPicPr>
          <p:cNvPr id="5" name="Picture 4" descr="06_review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71600"/>
            <a:ext cx="4297680" cy="32096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RFM 客户分层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识别 Champions（高价值）与 Lost（流失需召回）客户群体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【图表文件：07_rfm_segments.png】</a:t>
            </a:r>
          </a:p>
        </p:txBody>
      </p:sp>
      <p:pic>
        <p:nvPicPr>
          <p:cNvPr id="5" name="Picture 4" descr="07_rfm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71600"/>
            <a:ext cx="4297680" cy="284902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购买时段分析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白天 10:00-17:00 为黄金时段，16:00 峰值 6,484 单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【图表文件：08_hourly_pattern.png】</a:t>
            </a:r>
          </a:p>
        </p:txBody>
      </p:sp>
      <p:pic>
        <p:nvPicPr>
          <p:cNvPr id="5" name="Picture 4" descr="08_hourly_patt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71600"/>
            <a:ext cx="4297680" cy="176963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订单状态分布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delivered 占 97.0%，canceled 仅 0.6%，履约率极高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【图表文件：09_order_status.png】</a:t>
            </a:r>
          </a:p>
        </p:txBody>
      </p:sp>
      <p:pic>
        <p:nvPicPr>
          <p:cNvPr id="5" name="Picture 4" descr="09_order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71600"/>
            <a:ext cx="4297680" cy="442836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价格与运费关系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watches_gifts 高价位，bed_bath_table 低价高频，品类价格带分层明显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【图表文件：10_price_freight_scatter.png】</a:t>
            </a:r>
          </a:p>
        </p:txBody>
      </p:sp>
      <p:pic>
        <p:nvPicPr>
          <p:cNvPr id="5" name="Picture 4" descr="10_price_freight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71600"/>
            <a:ext cx="4297680" cy="300750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州级业务画像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SP 龙头但 AOV 最低（143 BRL）；BA 州 AOV 182 BRL 但订单中等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【图表文件：11_state_bubble.png】</a:t>
            </a:r>
          </a:p>
        </p:txBody>
      </p:sp>
      <p:pic>
        <p:nvPicPr>
          <p:cNvPr id="5" name="Picture 4" descr="11_state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71600"/>
            <a:ext cx="4297680" cy="299737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06 总结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项目成果总结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完整的数据库系统：11 张表、完整的约束体系、96K+ 订单数据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6 大进阶技术全覆盖：视图(5) / 函数(2) / 触发器(3) / 存储过程(4) / 事务 / 索引(11)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10 个业务分析维度：销售/地理/品类/支付/配送/评价/RFM/时段/状态/画像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11 张专业可视化图表：折线/柱状/饼图/散点/气泡/面积图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可复现的交付物：SQL 脚本 + Python 图表脚本 + 一键运行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业务洞察：识别核心市场(SP)、高价值品类(health_beauty)、物流优化空间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成员分工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（姓名）：数据库设计、建表、约束、数据导入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（姓名）：视图、存储过程、函数、触发器、事务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（姓名）：数据分析查询、Python 可视化、报告撰写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（姓名）：PPT 制作、演示准备、Word 报告整理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【请填写实际成员姓名】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CCCCC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